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CloudAI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B5F6"/>
                </a:solidFill>
                <a:latin typeface="Microsoft YaHei"/>
              </a:defRPr>
            </a:pPr>
            <a:r>
              <a:t>云原生 AI 统一管理平台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2743200" cy="457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组会汇报  |  CloudAI Fusion 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909C"/>
                </a:solidFill>
                <a:latin typeface="Microsoft YaHei"/>
              </a:defRPr>
            </a:pPr>
            <a:r>
              <a:t>2026年 Q1 进展汇报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汇报内容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项目背景与定位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三大企业痛点 / 解决方案定位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93392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134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四层架构 / 双语言引擎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06624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24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GPU 拓扑感知调度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26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NVLink建模 / RL优化 / MIG分片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19856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381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多智能体 AI 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398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4个Agent / LLM集成 / 优雅降级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133088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51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AIOps 自愈与 FinOps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531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自愈闭环 / Spot预测 / RI推荐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646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安全合规 / 边缘云 / 工程实践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66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纵深防御 / Edge / CI/CD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559552"/>
            <a:ext cx="502920" cy="50292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77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项目进展与下一步计划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79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里程碑 /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项目背景与定位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企业云原生 AI 平台的三大核心痛点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7315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Microsoft YaHei"/>
              </a:defRPr>
            </a:pPr>
            <a:r>
              <a:t>① 部署复杂度爆炸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68% 企业难以有效管理集群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多云异构编排难度大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GPU 资源碎片化严重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474720" cy="73152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C27B0"/>
                </a:solidFill>
                <a:latin typeface="Microsoft YaHei"/>
              </a:defRPr>
            </a:pPr>
            <a:r>
              <a:t>② 多云安全割裂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86% 组织使用多云架构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安全策略无法统一管理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合规审计孤岛化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6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474720" cy="73152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6ED1"/>
                </a:solidFill>
                <a:latin typeface="Microsoft YaHei"/>
              </a:defRPr>
            </a:pPr>
            <a:r>
              <a:t>③ AI 资源浪费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GPU 利用率不足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缺乏拓扑感知调度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&gt; 成本可见性差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47120" cy="146304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ED1"/>
                </a:solidFill>
                <a:latin typeface="Microsoft YaHei"/>
              </a:defRPr>
            </a:pPr>
            <a:r>
              <a:t>CloudAI Fusion 解决方案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开源平台，统一多云基础设施管理与 AI 智能调度。支持 6 大云厂商 (ACK/EKS/AKS/GKE/CCE/TKE)，通过 GPU 拓扑感知调度 + 4个 AI Agent + eBPF Mesh + 边缘云协同，实现集群利用率提升 44%、训练速度提升 2.4x、成本节省 40-65%。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Go + Python 双语言引擎 / 48个Go包 / 150+单元测试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6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73152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[1] 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API Server (Go/Gin) -- REST网关、JWT认证、RBAC授权、速率限制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客户端: Web UI / CLI / kubectl / REST API / gRPC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23160"/>
            <a:ext cx="114300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2423160"/>
            <a:ext cx="73152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[2] 调度层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Scheduler (GPU-aware) -- 拓扑感知、NVLink亲和、RL优化、MPS/MIG分片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Agent (DaemonSet) -- 节点级指标采集、DCGM+node_exporter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114300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566160"/>
            <a:ext cx="73152" cy="10058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27B0"/>
                </a:solidFill>
                <a:latin typeface="Microsoft YaHei"/>
              </a:defRPr>
            </a:pPr>
            <a:r>
              <a:t>[3] AI 引擎层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AI Engine (Python/FastAPI) -- 4个Agent(调度/安全/成本/运维) + LLM 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LLM: OpenAI GPT-4o / DashScope Qwen-Max / Ollama / vLLM / 优雅降级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709160"/>
            <a:ext cx="11430000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4709160"/>
            <a:ext cx="73152" cy="10058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[4] 数据层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PostgreSQL 16 (GORM) | Redis 7 (Cache/Lock/PubSub) | Kafka (Events) | NATS (RT Msg)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Prometheus (TSDB) | Grafana | Jaeger (OpenTelemetry) | eBPF/Cilium Mesh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ED1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Go 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ED1"/>
                </a:solidFill>
                <a:latin typeface="Microsoft YaHei"/>
              </a:defRPr>
            </a:pPr>
            <a:r>
              <a:t>150+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单元测试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ED1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云厂商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ED1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ED1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Docker 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技术栈全景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Go 1.25 + Python 3.11 双语言架构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76072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技术选型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关键组件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后端服务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Go 1.25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Gin, Cobra, Viper, GORM, JWT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AI 引擎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Python 3.11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FastAPI, PyTorch, TensorFlow, OpenAI SDK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容器编排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Kubernetes 1.30+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Istio Ambient, Cilium eBPF, Helm 3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数据存储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PostgreSQL 16 + Redis 7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GORM ORM, AOF持久化, 分布式锁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消息队列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Kafka + NATS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KRaft模式, JetStream, 8MB大消息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可观测性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Prometheus + OTel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Grafana, Jaeger, eBPF元数据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GitHub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多环境流水线, 金丝雀发布, 自动回滚</a:t>
                      </a:r>
                    </a:p>
                  </a:txBody>
                  <a:tcPr anchor="ctr"/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容器镜像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Distroless + Multi-stage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Go ~15MB, AI GPU ~2-3GB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核心创新一：GPU 拓扑感知调度器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三层抽象: 硬件拓扑建模 &gt; 工作负载匹配 &gt; 动态碎片整理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D1"/>
                </a:solidFill>
                <a:latin typeface="Microsoft YaHei"/>
              </a:defRPr>
            </a:pPr>
            <a:r>
              <a:t>拓扑发现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NVML探测 GPU互联关系</a:t>
            </a:r>
            <a:br/>
            <a:r>
              <a:t>NVLink/PCIe/QPI 带宽矩阵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D1"/>
                </a:solidFill>
                <a:latin typeface="Microsoft YaHei"/>
              </a:defRPr>
            </a:pPr>
            <a:r>
              <a:t>负载分类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数据并行(AllReduce)</a:t>
            </a:r>
            <a:br/>
            <a:r>
              <a:t>模型并行(P2P)</a:t>
            </a:r>
            <a:br/>
            <a:r>
              <a:t>Pipeline/推理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D1"/>
                </a:solidFill>
                <a:latin typeface="Microsoft YaHei"/>
              </a:defRPr>
            </a:pPr>
            <a:r>
              <a:t>多因子评分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拓扑质量 0-100分</a:t>
            </a:r>
            <a:br/>
            <a:r>
              <a:t>RL Q-learning优化</a:t>
            </a:r>
            <a:br/>
            <a:r>
              <a:t>24动作x5D状态空间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D1"/>
                </a:solidFill>
                <a:latin typeface="Microsoft YaHei"/>
              </a:defRPr>
            </a:pPr>
            <a:r>
              <a:t>GPU 共享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MPS 多进程服务</a:t>
            </a:r>
            <a:br/>
            <a:r>
              <a:t>MIG 多实例GPU</a:t>
            </a:r>
            <a:br/>
            <a:r>
              <a:t>最多 7 个 MIG 实例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0" y="1371600"/>
          <a:ext cx="667512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  <a:gridCol w="1737360"/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默认调度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拓扑感知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AllReduce吞吐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12.3 GB/s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38.7 GB/s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3.1x</a:t>
                      </a:r>
                    </a:p>
                  </a:txBody>
                  <a:tcPr anchor="ctr"/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训练迭代速度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1.0x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2.4x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+140%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GPU空闲碎片率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-76%</a:t>
                      </a:r>
                    </a:p>
                  </a:txBody>
                  <a:tcPr anchor="ctr"/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集群利用率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89%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+44%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MIG推理密度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1x/GPU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5.2x/GPU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5.2x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核心创新二：多智能体 AI 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4 个 AI Agent + LLM 抽象层 + 优雅降级设计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调度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多因子评分 + LLM推理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降级: 纯评分算法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1E63"/>
                </a:solidFill>
                <a:latin typeface="Microsoft YaHei"/>
              </a:defRPr>
            </a:pPr>
            <a:r>
              <a:t>安全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异常检测 + 威胁分析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降级: 阈值检测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成本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Spot/RI/Right-sizing建议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降级: 规则推荐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8016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运维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LLM根因分析 + 6个Runbook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降级: 内置剧本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00400"/>
            <a:ext cx="11430000" cy="4572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LLM 客户端抽象层 -- 优先级链式调用，自动故障转移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OpenAI GPT-4o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商业级推理能力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8404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DashScope Qwen-Max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国内云服务支持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8404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Ollama (Local)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本地私有化部署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84048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vLLM (Self-host)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206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高吞吐自托管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- 3策略 JSON 解析: 直接解析 &gt; 正则提取 &gt; 括号查找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- 6套 Prompt 模板: 调度/安全/成本/运维/洞察/对话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Chat 助手: POST /api/v1/chat 对话式运维助手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Prometheus 指标: LLM 调用次数、延迟、Token 消耗监控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核心创新三：AIOps 自愈 &amp; FinOps 成本优化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6ED1"/>
                </a:solidFill>
                <a:latin typeface="Microsoft YaHei"/>
              </a:defRPr>
            </a:pPr>
            <a:r>
              <a:t>AIOps 自愈引擎 -- MTTR &lt; 2min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ED1"/>
                </a:solidFill>
                <a:latin typeface="Microsoft YaHei"/>
              </a:defRPr>
            </a:pPr>
            <a:r>
              <a:t>① 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8种多维检测器</a:t>
            </a:r>
            <a:br/>
            <a:r>
              <a:t>误报降低 97.5%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20" y="16459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ED1"/>
                </a:solidFill>
                <a:latin typeface="Microsoft YaHei"/>
              </a:defRPr>
            </a:pPr>
            <a:r>
              <a:t>② 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659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事件相关性分析</a:t>
            </a:r>
            <a:br/>
            <a:r>
              <a:t>故障树构建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459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ED1"/>
                </a:solidFill>
                <a:latin typeface="Microsoft YaHei"/>
              </a:defRPr>
            </a:pPr>
            <a:r>
              <a:t>③ 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659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4个自动修复剧本</a:t>
            </a:r>
            <a:br/>
            <a:r>
              <a:t>DryRun安全模式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459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ED1"/>
                </a:solidFill>
                <a:latin typeface="Microsoft YaHei"/>
              </a:defRPr>
            </a:pPr>
            <a:r>
              <a:t>④ 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9659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自动回归验证</a:t>
            </a:r>
            <a:br/>
            <a:r>
              <a:t>冷却期保护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Microsoft YaHei"/>
              </a:defRPr>
            </a:pPr>
            <a:r>
              <a:t>FinOps 成本优化引擎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645920"/>
            <a:ext cx="530352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Spot 预测引擎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6916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双因子模型(波动率+趋势)</a:t>
            </a:r>
            <a:br/>
            <a:r>
              <a:t>5min窗口 AUC=0.92</a:t>
            </a:r>
            <a:br/>
            <a:r>
              <a:t>动态竞价策略优化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606040"/>
            <a:ext cx="530352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RI 推荐引擎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5176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P50/P90使用模式分析</a:t>
            </a:r>
            <a:br/>
            <a:r>
              <a:t>6种方案对比</a:t>
            </a:r>
            <a:br/>
            <a:r>
              <a:t>节省 40-65%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530352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成本分析引擎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多维度归因分析</a:t>
            </a:r>
            <a:br/>
            <a:r>
              <a:t>异常检测+30天预测</a:t>
            </a:r>
            <a:br/>
            <a:r>
              <a:t>预算管理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91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更多 AIOps 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预测性自动扩缩容 -- 多指标加权决策，线性回归+EMA融合预测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69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容量规划引擎 -- 4D资源预测(CPU/Mem/GPU/Storage)，耗尽日期预警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8911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 智能告警 -- LLM驱动的根因分析，事件历史关联，自动修复建议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成本优化金字塔策略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40080" y="5212080"/>
          <a:ext cx="105156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59436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节省率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Idle 资源清理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5-15%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无需代码变更，立即见效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Right-Sizing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20-40%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所有工作负载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Spot 实例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60-90%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可中断工作负载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RI/Savings Plan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40-60%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稳定基线工作负载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安全合规 / 边缘云 / 高级特性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1E63"/>
                </a:solidFill>
                <a:latin typeface="Microsoft YaHei"/>
              </a:defRPr>
            </a:pPr>
            <a:r>
              <a:t>纵深安全体系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JWT + RBAC (4角色, 20+权限)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OIDC 跨云身份联邦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4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Pod 安全策略 + NetworkPolicy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CIS K8s Benchmark 合规检查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Trivy/Grype 镜像漏洞扫描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MITRE ATT&amp;CK 威胁检测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Debug端点 6层纵深防御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42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审计日志 + 事件关联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Microsoft YaHei"/>
              </a:defRPr>
            </a:pPr>
            <a:r>
              <a:t>边缘云协同架构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三层架构: Cloud &gt; Edge &gt;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29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离线运行时: 状态机(4状态)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140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50B参数模型边缘支持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980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模型压缩: 剪枝/蒸馏/量化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821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边缘云同步: 4级优先队列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Delta压缩(zstd) + 冲突解决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27B0"/>
                </a:solidFill>
                <a:latin typeface="Microsoft YaHei"/>
              </a:defRPr>
            </a:pPr>
            <a:r>
              <a:t>高级特性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eBPF Sidecarless Mesh (&lt;1%开销)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29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Wasm运行时 (ms级冷启动)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414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插件生态 (SDK+18个扩展点)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980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Feature Toggles (3级配置)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多租户隔离 + GitOps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灾备恢复 + 高可用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Debug 端点 6 层纵深防御示例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5760" y="5120640"/>
          <a:ext cx="11247120" cy="1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217920"/>
              </a:tblGrid>
              <a:tr h="28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 安全默认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环境变量开关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CLOUDAI_DEBUG_ENABLED=true</a:t>
                      </a:r>
                    </a:p>
                  </a:txBody>
                  <a:tcPr anchor="ctr"/>
                </a:tc>
              </a:tr>
              <a:tr h="2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2. JWT认证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Bearer Token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同业务API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3. Admin角色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RBAC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仅 admin 角色</a:t>
                      </a:r>
                    </a:p>
                  </a:txBody>
                  <a:tcPr anchor="ctr"/>
                </a:tc>
              </a:tr>
              <a:tr h="2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4. IP白名单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CIDR限制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可选配置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5. 审计日志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全记录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用户身份</a:t>
                      </a:r>
                    </a:p>
                  </a:txBody>
                  <a:tcPr anchor="ctr"/>
                </a:tc>
              </a:tr>
              <a:tr h="28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6. 速率限制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Token Bucket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~2 req/min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工程质量保障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多环境 CI/CD / 测试金字塔 / Helm部署 / Docker优化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多环境 CI/CD 流水线</a:t>
            </a:r>
          </a:p>
        </p:txBody>
      </p:sp>
      <p:sp>
        <p:nvSpPr>
          <p:cNvPr id="6" name="Chevron 5"/>
          <p:cNvSpPr/>
          <p:nvPr/>
        </p:nvSpPr>
        <p:spPr>
          <a:xfrm>
            <a:off x="274320" y="1645920"/>
            <a:ext cx="1554480" cy="731520"/>
          </a:xfrm>
          <a:prstGeom prst="chevron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Build</a:t>
            </a:r>
            <a:br/>
            <a:r>
              <a:t>&amp; Test</a:t>
            </a:r>
          </a:p>
        </p:txBody>
      </p:sp>
      <p:sp>
        <p:nvSpPr>
          <p:cNvPr id="7" name="Chevron 6"/>
          <p:cNvSpPr/>
          <p:nvPr/>
        </p:nvSpPr>
        <p:spPr>
          <a:xfrm>
            <a:off x="1965960" y="1645920"/>
            <a:ext cx="1554480" cy="731520"/>
          </a:xfrm>
          <a:prstGeom prst="chevron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Docker</a:t>
            </a:r>
            <a:br/>
            <a:r>
              <a:t>Images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0" y="1645920"/>
            <a:ext cx="1554480" cy="731520"/>
          </a:xfrm>
          <a:prstGeom prst="chevron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Deploy</a:t>
            </a:r>
            <a:br/>
            <a:r>
              <a:t>Dev</a:t>
            </a:r>
          </a:p>
        </p:txBody>
      </p:sp>
      <p:sp>
        <p:nvSpPr>
          <p:cNvPr id="9" name="Chevron 8"/>
          <p:cNvSpPr/>
          <p:nvPr/>
        </p:nvSpPr>
        <p:spPr>
          <a:xfrm>
            <a:off x="5349240" y="1645920"/>
            <a:ext cx="1554480" cy="731520"/>
          </a:xfrm>
          <a:prstGeom prst="chevron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Integration</a:t>
            </a:r>
            <a:br/>
            <a:r>
              <a:t>Gate</a:t>
            </a:r>
          </a:p>
        </p:txBody>
      </p:sp>
      <p:sp>
        <p:nvSpPr>
          <p:cNvPr id="10" name="Chevron 9"/>
          <p:cNvSpPr/>
          <p:nvPr/>
        </p:nvSpPr>
        <p:spPr>
          <a:xfrm>
            <a:off x="7040880" y="1645920"/>
            <a:ext cx="1554480" cy="731520"/>
          </a:xfrm>
          <a:prstGeom prst="chevron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Deploy</a:t>
            </a:r>
            <a:br/>
            <a:r>
              <a:t>Staging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8732520" y="1645920"/>
            <a:ext cx="1554480" cy="731520"/>
          </a:xfrm>
          <a:prstGeom prst="chevron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Perf</a:t>
            </a:r>
            <a:br/>
            <a:r>
              <a:t>Gate</a:t>
            </a:r>
          </a:p>
        </p:txBody>
      </p:sp>
      <p:sp>
        <p:nvSpPr>
          <p:cNvPr id="12" name="Chevron 11"/>
          <p:cNvSpPr/>
          <p:nvPr/>
        </p:nvSpPr>
        <p:spPr>
          <a:xfrm>
            <a:off x="10424160" y="1645920"/>
            <a:ext cx="1554480" cy="731520"/>
          </a:xfrm>
          <a:prstGeom prst="chevron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Deploy</a:t>
            </a:r>
            <a:br/>
            <a:r>
              <a:t>Prod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测试体系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单元测试: 150+ Go测试 + Python测试 (pytest)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Fuzz 测试: common/scheduler/wasm 随机输入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集成测试: 多服务协作验证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E2E 测试: 全链路端到端验证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性能基准: 1000-5000节点 GPU调度基准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压力测试: 10K/20K 并发 + 72h稳定性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混沌工程: 故障注入 + SLO合规验证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覆盖率门禁: Go &gt;=60%, Python &gt;=50%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部署与镜像优化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Helm 3 Chart: 7个模板(deploy/svc/hpa/pdb/net/rbac/secret)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多环境配置: values-dev / values-staging / values-prod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57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一键启动: start.bat/sh (--gpu, --minimal)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77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Distroless镜像: Go服务 ~10-15MB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GPU镜像优化: AI引擎 5-8GB &gt; 2-3GB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17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Feature Profile: minimal/standard/full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诊断工具: make diagnose (health/ports/logs)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57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云部署: deploy-eks/ack/aks 一键命令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76072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D1"/>
                </a:solidFill>
                <a:latin typeface="Microsoft YaHei"/>
              </a:defRPr>
            </a:pPr>
            <a:r>
              <a:t>Quality Gate: lint &gt; test &gt; fuzz &gt; perf-budget &gt; coverage-check &gt; bench &gt; chaos &gt; 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项目进展与里程碑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515600" cy="36576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011680"/>
            <a:ext cx="365760" cy="36576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53"/>
                </a:solidFill>
                <a:latin typeface="Microsoft YaHei"/>
              </a:defRPr>
            </a:pPr>
            <a:r>
              <a:t>v0.1.0</a:t>
            </a:r>
            <a:br/>
            <a:r>
              <a:t>2026-03-04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初始 MVP</a:t>
            </a:r>
            <a:br/>
            <a:r>
              <a:t>项目框架</a:t>
            </a:r>
            <a:br/>
            <a:r>
              <a:t>基础 API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011680"/>
            <a:ext cx="365760" cy="365760"/>
          </a:xfrm>
          <a:prstGeom prst="ellipse">
            <a:avLst/>
          </a:prstGeom>
          <a:solidFill>
            <a:srgbClr val="006ED1"/>
          </a:solidFill>
          <a:ln w="25400">
            <a:solidFill>
              <a:srgbClr val="006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6ED1"/>
                </a:solidFill>
                <a:latin typeface="Microsoft YaHei"/>
              </a:defRPr>
            </a:pPr>
            <a:r>
              <a:t>v0.2.0</a:t>
            </a:r>
            <a:br/>
            <a:r>
              <a:t>2026-03-12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14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Phase 3-5</a:t>
            </a:r>
            <a:br/>
            <a:r>
              <a:t>性能/高级特性</a:t>
            </a:r>
            <a:br/>
            <a:r>
              <a:t>文档/社区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0116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v1.0</a:t>
            </a:r>
            <a:br/>
            <a:r>
              <a:t>2026 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14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多云SDK集成</a:t>
            </a:r>
            <a:br/>
            <a:r>
              <a:t>Istio Ambient</a:t>
            </a:r>
            <a:br/>
            <a:r>
              <a:t>AIOps全功能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20116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C27B0"/>
                </a:solidFill>
                <a:latin typeface="Microsoft YaHei"/>
              </a:defRPr>
            </a:pPr>
            <a:r>
              <a:t>v2.0</a:t>
            </a:r>
            <a:br/>
            <a:r>
              <a:t>2026 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Agent系统</a:t>
            </a:r>
            <a:br/>
            <a:r>
              <a:t>边缘部署</a:t>
            </a:r>
            <a:br/>
            <a:r>
              <a:t>成本优化</a:t>
            </a:r>
          </a:p>
        </p:txBody>
      </p:sp>
      <p:sp>
        <p:nvSpPr>
          <p:cNvPr id="17" name="Oval 16"/>
          <p:cNvSpPr/>
          <p:nvPr/>
        </p:nvSpPr>
        <p:spPr>
          <a:xfrm>
            <a:off x="11521440" y="20116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722"/>
                </a:solidFill>
                <a:latin typeface="Microsoft YaHei"/>
              </a:defRPr>
            </a:pPr>
            <a:r>
              <a:t>v3.0</a:t>
            </a:r>
            <a:br/>
            <a:r>
              <a:t>2027 H1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5146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跨云安全</a:t>
            </a:r>
            <a:br/>
            <a:r>
              <a:t>异构调度</a:t>
            </a:r>
            <a:br/>
            <a:r>
              <a:t>插件生态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D1"/>
                </a:solidFill>
                <a:latin typeface="Microsoft YaHei"/>
              </a:defRPr>
            </a:pPr>
            <a:r>
              <a:t>当前版本已完成内容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4206240"/>
          <a:ext cx="1124712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37744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VP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VP1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简化云原生 AI 部署 -- 6云厂商、工作负载管理、GORM持久化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VP2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统一多云安全 -- Trivy扫描、CIS合规、MITRE ATT&amp;CK威胁检测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VP3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AI 资源调度优化 -- GPU拓扑、RL优化、MPS/MIG共享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VP4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生成式AI集成 -- LLM客户端、Chat助手、运维Agent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Phase3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性能与规模 -- 基准测试、压测、混沌工程、CI/CD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Phase4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高级特性 -- Edge、Plugin、FinOps、AIOps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Phase5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文档社区 -- 用户手册、运维指南、技术博客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已完成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代码统计与质量指标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54864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D1"/>
                </a:solidFill>
                <a:latin typeface="Microsoft YaHei"/>
              </a:defRPr>
            </a:pPr>
            <a:r>
              <a:t>Go 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- 48 个包 (pkg/)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- 4 个服务入口 (cmd/)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K8s/Helm/Terraform 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- 150+ 单元测试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覆盖率门禁 &gt;=60%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8016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280160"/>
            <a:ext cx="2743200" cy="54864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Microsoft YaHei"/>
              </a:defRPr>
            </a:pPr>
            <a:r>
              <a:t>Python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FastAPI 服务器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- 4 个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LLM 客户端抽象层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RL 调度优化器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覆盖率门禁 &gt;=50%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2743200" cy="5486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配置与部署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- 5 个 Dockerfile (distroless)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- 3 个 docker-compose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Helm Chart (7模板)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Terraform (EKS/DR)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GitHub Actions CI/CD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128016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9720" y="1280160"/>
            <a:ext cx="2743200" cy="5486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文档与社区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用户手册(14章)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194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运维指南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故障排查手册(15节)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最佳实践指南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- 技术博客系列(4篇)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ED1"/>
                </a:solidFill>
                <a:latin typeface="Microsoft YaHei"/>
              </a:defRPr>
            </a:pPr>
            <a:r>
              <a:t>API 端点统计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65760" y="4754880"/>
          <a:ext cx="11247120" cy="20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8046720"/>
              </a:tblGrid>
              <a:tr h="29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端点数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anchor="ctr">
                    <a:solidFill>
                      <a:srgbClr val="006ED1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认证授权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/auth/login, /auth/refresh, /auth/logout</a:t>
                      </a:r>
                    </a:p>
                  </a:txBody>
                  <a:tcPr anchor="ctr"/>
                </a:tc>
              </a:tr>
              <a:tr h="29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集群管理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5+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/clusters, /providers, /workloads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安全合规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5+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/security/policies, /security/scan</a:t>
                      </a:r>
                    </a:p>
                  </a:txBody>
                  <a:tcPr anchor="ctr"/>
                </a:tc>
              </a:tr>
              <a:tr h="29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监控告警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3+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/monitoring/alerts/events, /cost/summary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AI 引擎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8+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/scheduling/optimize, /anomaly/detect, /chat</a:t>
                      </a:r>
                    </a:p>
                  </a:txBody>
                  <a:tcPr anchor="ctr"/>
                </a:tc>
              </a:tr>
              <a:tr h="2900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Debug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/debug/info, /debug/pprof, /debug/log-level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v0.1 MVP &gt; 生产就绪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6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v0.1 MVP (2026 Q2)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核心管理功能稳定性打磨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基础 GPU 调度功能完善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认证授权体系完善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监控告警体系完善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8016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2801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v1.0 (2026 Q3)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20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多云 SDK 实际集成测试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Istio Ambient 生产验证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834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AIOps 自愈引擎生产化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性能调优与稳定性验证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v2.0 (2026 Q4)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Agent 系统全功能上线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边缘计算生产部署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FinOps 成本优化全流程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Web UI 控制台开发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28016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20" y="128016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v3.0 (2027 H1)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9202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跨云统一安全策略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77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异构计算调度(GPU/NPU/TPU)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834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插件市场与生态建设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291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&gt; 开源社区运营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754880"/>
            <a:ext cx="11612880" cy="164592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ED1"/>
                </a:solidFill>
                <a:latin typeface="Microsoft YaHei"/>
              </a:defRPr>
            </a:pPr>
            <a:r>
              <a:t>当前重点工作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MVP 稳定性打磨 -- 全链路集成测试、异常场景覆盖、内存泄漏检测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多云 SDK 实测 -- ACK/EKS/AKS 真实集群对接验证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3. GPU 调度实测 -- 真实 A100 集群上的拓扑发现与调度效果验证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4. 文档完善 -- 用户手册实操截图、API 示例补充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0" y="-1828800"/>
            <a:ext cx="7315200" cy="7315200"/>
          </a:xfrm>
          <a:prstGeom prst="roundRect">
            <a:avLst>
              <a:gd name="adj" fmla="val 50000"/>
            </a:avLst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Thanks &amp;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926080"/>
            <a:ext cx="3017520" cy="457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B5F6"/>
                </a:solidFill>
                <a:latin typeface="Microsoft YaHei"/>
              </a:defRPr>
            </a:pPr>
            <a:r>
              <a:t>感谢聆听，欢迎提问与讨论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Microsoft YaHei"/>
              </a:defRPr>
            </a:pPr>
            <a:r>
              <a:t>CloudAI Fusion -- Cloud-Native AI Unified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D8B"/>
                </a:solidFill>
                <a:latin typeface="Microsoft YaHei"/>
              </a:defRPr>
            </a:pPr>
            <a:r>
              <a:t>GitHub: github.com/cloudai-fusion/cloudai-fusion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